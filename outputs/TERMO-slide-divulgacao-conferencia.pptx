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df35fa90614a07" /><Relationship Type="http://schemas.openxmlformats.org/officeDocument/2006/relationships/extended-properties" Target="/docProps/app.xml" Id="Rd16c9baee96b4290" /><Relationship Type="http://schemas.openxmlformats.org/officeDocument/2006/relationships/officeDocument" Target="/ppt/presentation.xml" Id="R5c31d7fd62b54b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441189bfd84663"/>
  </p:sldMasterIdLst>
  <p:notesMasterIdLst>
    <p:notesMasterId xmlns:r="http://schemas.openxmlformats.org/officeDocument/2006/relationships" r:id="Ra5b497aca7b5457e"/>
  </p:notesMasterIdLst>
  <p:sldIdLst>
    <p:sldId xmlns:r="http://schemas.openxmlformats.org/officeDocument/2006/relationships" id="256" r:id="R79eb607717114d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4f56e9377c4f0f" /><Relationship Type="http://schemas.openxmlformats.org/officeDocument/2006/relationships/slideMaster" Target="/ppt/slideMasters/slideMaster1.xml" Id="R22441189bfd84663" /><Relationship Type="http://schemas.openxmlformats.org/officeDocument/2006/relationships/notesMaster" Target="/ppt/notesMasters/notesMaster1.xml" Id="Ra5b497aca7b5457e" /><Relationship Type="http://schemas.openxmlformats.org/officeDocument/2006/relationships/presProps" Target="/ppt/presProps.xml" Id="Rb801b32d30f74193" /><Relationship Type="http://schemas.openxmlformats.org/officeDocument/2006/relationships/tableStyles" Target="/ppt/tableStyles.xml" Id="R1254682a83d3447c" /><Relationship Type="http://schemas.openxmlformats.org/officeDocument/2006/relationships/slide" Target="/ppt/slides/slide1.xml" Id="R79eb607717114d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8a71e6c65546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654ae1025649a3" /><Relationship Type="http://schemas.openxmlformats.org/officeDocument/2006/relationships/notesMaster" Target="/ppt/notesMasters/notesMaster1.xml" Id="Ra376c455448041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de divulgação do TERMO para apresentação oral. Captura da interface pública e destino do QR code: https://termo.app.br. Descrição baseada no conteúdo público do projeto TERMO.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7c1dbd94a547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7c53bdc1bd4398" /><Relationship Type="http://schemas.openxmlformats.org/officeDocument/2006/relationships/slideLayout" Target="/ppt/slideLayouts/slideLayout1.xml" Id="R38e477bf9e104c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e477bf9e104c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28975f5e44bd8" /><Relationship Type="http://schemas.openxmlformats.org/officeDocument/2006/relationships/image" Target="/ppt/media/image.png" Id="R1600e23f94d141b0" /><Relationship Type="http://schemas.openxmlformats.org/officeDocument/2006/relationships/image" Target="/ppt/media/image.jpeg" Id="R5e1a90e6a9694af7" /><Relationship Type="http://schemas.openxmlformats.org/officeDocument/2006/relationships/hyperlink" Target="https://termo.app.br" TargetMode="External" Id="Rf82310f72b50473d" /><Relationship Type="http://schemas.openxmlformats.org/officeDocument/2006/relationships/image" Target="/ppt/media/image2.png" Id="R0c2d2e9900ac4cd4" /><Relationship Type="http://schemas.openxmlformats.org/officeDocument/2006/relationships/notesSlide" Target="/ppt/notesSlides/notesSlide1.xml" Id="R26745cfe30d14a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rail">
            <a:extLst xmlns:a="http://schemas.openxmlformats.org/drawingml/2006/main">
              <a:ext uri="{FF2B5EF4-FFF2-40B4-BE49-F238E27FC236}">
                <a16:creationId xmlns:a16="http://schemas.microsoft.com/office/drawing/2014/main" id="{6E523109-C889-4004-A68A-DAB46168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67"/>
          </a:solidFill>
          <a:ln xmlns:a="http://schemas.openxmlformats.org/drawingml/2006/main" w="0">
            <a:noFill/>
          </a:ln>
        </p:spPr>
      </p:sp>
      <p:sp>
        <p:nvSpPr>
          <p:cNvPr id="2" name="thermal-accent">
            <a:extLst xmlns:a="http://schemas.openxmlformats.org/drawingml/2006/main">
              <a:ext uri="{FF2B5EF4-FFF2-40B4-BE49-F238E27FC236}">
                <a16:creationId xmlns:a16="http://schemas.microsoft.com/office/drawing/2014/main" id="{96146345-8AB1-4985-8A1B-C45213D5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F23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0e23f94d141b0"/>
          <a:stretch xmlns:a="http://schemas.openxmlformats.org/drawingml/2006/main"/>
        </p:blipFill>
        <p:spPr>
          <a:xfrm xmlns:a="http://schemas.openxmlformats.org/drawingml/2006/main">
            <a:off x="533400" y="381000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</p:spPr>
      </p:pic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D874237-F5FC-41BF-971D-A59247FA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56F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6F23"/>
                </a:solidFill>
                <a:latin typeface="Arial"/>
                <a:ea typeface="Arial"/>
                <a:cs typeface="Arial"/>
              </a:rPr>
              <a:t>LIVRO INTERATIVO · IF–UFF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85A21B76-E8F5-4D15-AFB1-01C4587C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191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1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487"/>
                </a:solidFill>
                <a:latin typeface="Arial"/>
                <a:ea typeface="Arial"/>
                <a:cs typeface="Arial"/>
              </a:rPr>
              <a:t>Prof. Mario Reis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CFF422-45C9-4AAA-A296-628D02D8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5095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073B6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73B67"/>
                </a:solidFill>
                <a:latin typeface="Arial"/>
                <a:ea typeface="Arial"/>
                <a:cs typeface="Arial"/>
              </a:rPr>
              <a:t>Termodinâmica para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073B6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73B67"/>
                </a:solidFill>
                <a:latin typeface="Arial"/>
                <a:ea typeface="Arial"/>
                <a:cs typeface="Arial"/>
              </a:rPr>
              <a:t>Estudantes de Física</a:t>
            </a:r>
          </a:p>
        </p:txBody>
      </p:sp>
      <p:sp>
        <p:nvSpPr>
          <p:cNvPr id="7" name="description">
            <a:extLst xmlns:a="http://schemas.openxmlformats.org/drawingml/2006/main">
              <a:ext uri="{FF2B5EF4-FFF2-40B4-BE49-F238E27FC236}">
                <a16:creationId xmlns:a16="http://schemas.microsoft.com/office/drawing/2014/main" id="{A9C21768-459F-4BD9-A285-C12964FA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Capítulos, exercícios e simuladores em uma experiência de estudo visual e exploratória.</a:t>
            </a:r>
          </a:p>
        </p:txBody>
      </p:sp>
      <p:sp>
        <p:nvSpPr>
          <p:cNvPr id="8" name="feature-bullets">
            <a:extLst xmlns:a="http://schemas.openxmlformats.org/drawingml/2006/main">
              <a:ext uri="{FF2B5EF4-FFF2-40B4-BE49-F238E27FC236}">
                <a16:creationId xmlns:a16="http://schemas.microsoft.com/office/drawing/2014/main" id="{A7DE5EA4-C7BE-487B-9746-1A298587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4953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2000"/>
              </a:lnSpc>
              <a:spcAft>
                <a:spcPts val="900"/>
              </a:spcAft>
              <a:buNone/>
              <a:defRPr sz="1875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324A"/>
                </a:solidFill>
                <a:latin typeface="Arial"/>
                <a:ea typeface="Arial"/>
                <a:cs typeface="Arial"/>
              </a:rPr>
              <a:t>Capítulos com teoria e exemplos</a:t>
            </a:r>
          </a:p>
          <a:p xmlns:a="http://schemas.openxmlformats.org/drawingml/2006/main">
            <a:pPr marL="254000" indent="-127000">
              <a:lnSpc>
                <a:spcPct val="102000"/>
              </a:lnSpc>
              <a:spcAft>
                <a:spcPts val="900"/>
              </a:spcAft>
              <a:buNone/>
              <a:defRPr sz="1875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324A"/>
                </a:solidFill>
                <a:latin typeface="Arial"/>
                <a:ea typeface="Arial"/>
                <a:cs typeface="Arial"/>
              </a:rPr>
              <a:t>Exercícios gerados por IA</a:t>
            </a:r>
          </a:p>
          <a:p xmlns:a="http://schemas.openxmlformats.org/drawingml/2006/main">
            <a:pPr marL="254000" indent="-127000">
              <a:lnSpc>
                <a:spcPct val="102000"/>
              </a:lnSpc>
              <a:spcAft>
                <a:spcPts val="900"/>
              </a:spcAft>
              <a:buNone/>
              <a:defRPr sz="1875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324A"/>
                </a:solidFill>
                <a:latin typeface="Arial"/>
                <a:ea typeface="Arial"/>
                <a:cs typeface="Arial"/>
              </a:rPr>
              <a:t>Simuladores e simulados por capítulo</a:t>
            </a:r>
          </a:p>
          <a:p xmlns:a="http://schemas.openxmlformats.org/drawingml/2006/main">
            <a:pPr marL="254000" indent="-127000">
              <a:lnSpc>
                <a:spcPct val="102000"/>
              </a:lnSpc>
              <a:spcAft>
                <a:spcPts val="900"/>
              </a:spcAft>
              <a:buNone/>
              <a:defRPr sz="1875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324A"/>
                </a:solidFill>
                <a:latin typeface="Arial"/>
                <a:ea typeface="Arial"/>
                <a:cs typeface="Arial"/>
              </a:rPr>
              <a:t>Pontos de estudo e desafio do dia</a:t>
            </a:r>
          </a:p>
        </p:txBody>
      </p:sp>
      <p:sp>
        <p:nvSpPr>
          <p:cNvPr id="9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07CCE73A-6253-4D55-8A87-9793A6F6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0050"/>
            <a:ext cx="581025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a90e6a9694af7"/>
          <a:srcRect xmlns:a="http://schemas.openxmlformats.org/drawingml/2006/main" l="0" t="57" r="0" b="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533400"/>
            <a:ext cx="5543550" cy="3114675"/>
          </a:xfrm>
          <a:prstGeom xmlns:a="http://schemas.openxmlformats.org/drawingml/2006/main" prst="roundRect">
            <a:avLst>
              <a:gd name="adj" fmla="val 3670"/>
            </a:avLst>
          </a:prstGeom>
        </p:spPr>
      </p:pic>
      <p:sp>
        <p:nvSpPr>
          <p:cNvPr id="11" name="screenshot-caption">
            <a:extLst xmlns:a="http://schemas.openxmlformats.org/drawingml/2006/main">
              <a:ext uri="{FF2B5EF4-FFF2-40B4-BE49-F238E27FC236}">
                <a16:creationId xmlns:a16="http://schemas.microsoft.com/office/drawing/2014/main" id="{A86BD592-1A98-4204-BB09-6DE7E643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766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1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87"/>
                </a:solidFill>
                <a:latin typeface="Arial"/>
                <a:ea typeface="Arial"/>
                <a:cs typeface="Arial"/>
              </a:rPr>
              <a:t>Interface do aplicativo</a:t>
            </a:r>
          </a:p>
        </p:txBody>
      </p:sp>
      <p:sp>
        <p:nvSpPr>
          <p:cNvPr id="12" name="access-block">
            <a:extLst xmlns:a="http://schemas.openxmlformats.org/drawingml/2006/main">
              <a:ext uri="{FF2B5EF4-FFF2-40B4-BE49-F238E27FC236}">
                <a16:creationId xmlns:a16="http://schemas.microsoft.com/office/drawing/2014/main" id="{8C8DC41E-F134-4417-9881-045C0FAF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43375"/>
            <a:ext cx="581025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8D8E8"/>
            </a:solidFill>
            <a:prstDash val="solid"/>
          </a:ln>
        </p:spPr>
      </p:sp>
      <p:sp>
        <p:nvSpPr>
          <p:cNvPr id="13" name="call-to-action">
            <a:extLst xmlns:a="http://schemas.openxmlformats.org/drawingml/2006/main">
              <a:ext uri="{FF2B5EF4-FFF2-40B4-BE49-F238E27FC236}">
                <a16:creationId xmlns:a16="http://schemas.microsoft.com/office/drawing/2014/main" id="{04CF2B10-9958-4CD8-A644-659BBC77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386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73B6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3B67"/>
                </a:solidFill>
                <a:latin typeface="Arial"/>
                <a:ea typeface="Arial"/>
                <a:cs typeface="Arial"/>
              </a:rPr>
              <a:t>Acesse o TERMO</a:t>
            </a:r>
          </a:p>
        </p:txBody>
      </p:sp>
      <p:sp>
        <p:nvSpPr>
          <p:cNvPr id="14" name="qr-instruction">
            <a:extLst xmlns:a="http://schemas.openxmlformats.org/drawingml/2006/main">
              <a:ext uri="{FF2B5EF4-FFF2-40B4-BE49-F238E27FC236}">
                <a16:creationId xmlns:a16="http://schemas.microsoft.com/office/drawing/2014/main" id="{150782DC-EAB6-44C2-A7E2-25C8F781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95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1748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487"/>
                </a:solidFill>
                <a:latin typeface="Arial"/>
                <a:ea typeface="Arial"/>
                <a:cs typeface="Arial"/>
              </a:rPr>
              <a:t>Aponte a câmera para o QR code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1748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487"/>
                </a:solidFill>
                <a:latin typeface="Arial"/>
                <a:ea typeface="Arial"/>
                <a:cs typeface="Arial"/>
              </a:rPr>
              <a:t>ou digite o endereço:</a:t>
            </a:r>
          </a:p>
        </p:txBody>
      </p:sp>
      <p:sp>
        <p:nvSpPr>
          <p:cNvPr id="15" name="website-pill">
            <a:extLst xmlns:a="http://schemas.openxmlformats.org/drawingml/2006/main">
              <a:ext uri="{FF2B5EF4-FFF2-40B4-BE49-F238E27FC236}">
                <a16:creationId xmlns:a16="http://schemas.microsoft.com/office/drawing/2014/main" id="{A641258B-A832-49A4-B923-340E08AD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3143250" cy="504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6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19050" rIns="952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f82310f72b50473d"/>
              </a:rPr>
              <a:t>termo.app.br</a:t>
            </a:r>
          </a:p>
        </p:txBody>
      </p:sp>
      <p:sp>
        <p:nvSpPr>
          <p:cNvPr id="16" name="qr-surface">
            <a:extLst xmlns:a="http://schemas.openxmlformats.org/drawingml/2006/main">
              <a:ext uri="{FF2B5EF4-FFF2-40B4-BE49-F238E27FC236}">
                <a16:creationId xmlns:a16="http://schemas.microsoft.com/office/drawing/2014/main" id="{D1DBAB63-6417-473C-9488-A35160D8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86250"/>
            <a:ext cx="200025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d2e9900ac4cd4"/>
          <a:stretch xmlns:a="http://schemas.openxmlformats.org/drawingml/2006/main"/>
        </p:blipFill>
        <p:spPr>
          <a:xfrm xmlns:a="http://schemas.openxmlformats.org/drawingml/2006/main">
            <a:off x="9663113" y="4400550"/>
            <a:ext cx="1628775" cy="1628775"/>
          </a:xfrm>
          <a:prstGeom xmlns:a="http://schemas.openxmlformats.org/drawingml/2006/main" prst="rect">
            <a:avLst/>
          </a:prstGeom>
        </p:spPr>
      </p:pic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DFA6E91-C8DA-4CA2-99D4-2A8ECDCB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F23"/>
          </a:solidFill>
          <a:ln xmlns:a="http://schemas.openxmlformats.org/drawingml/2006/main" w="0">
            <a:noFill/>
          </a:ln>
        </p:spPr>
      </p:sp>
      <p:sp>
        <p:nvSpPr>
          <p:cNvPr id="19" name="institution">
            <a:extLst xmlns:a="http://schemas.openxmlformats.org/drawingml/2006/main">
              <a:ext uri="{FF2B5EF4-FFF2-40B4-BE49-F238E27FC236}">
                <a16:creationId xmlns:a16="http://schemas.microsoft.com/office/drawing/2014/main" id="{6F2652DF-0CA1-4F93-A09C-2339A085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174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487"/>
                </a:solidFill>
                <a:latin typeface="Arial"/>
                <a:ea typeface="Arial"/>
                <a:cs typeface="Arial"/>
              </a:rPr>
              <a:t>Instituto de Física — Universidade Federal Fluminense</a:t>
            </a:r>
          </a:p>
        </p:txBody>
      </p:sp>
    </p:spTree>
    <p:extLst>
      <p:ext uri="{BB962C8B-B14F-4D97-AF65-F5344CB8AC3E}">
        <p14:creationId xmlns:p14="http://schemas.microsoft.com/office/powerpoint/2010/main" val="349505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2026-09-14T12:58:39.9880000Z</dcterms:created>
  <dcterms:modified xsi:type="dcterms:W3CDTF">2026-09-14T12:58:39.9880000Z</dcterms:modified>
</coreProperties>
</file>